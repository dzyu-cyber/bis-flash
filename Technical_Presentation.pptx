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80812"/>
          </a:solidFill>
          <a:ln w="12700">
            <a:solidFill>
              <a:srgbClr val="0808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066FF">
              <a:alpha val="15000"/>
            </a:srgbClr>
          </a:solidFill>
          <a:ln w="38100">
            <a:solidFill>
              <a:srgbClr val="006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00D9FF">
              <a:alpha val="12000"/>
            </a:srgbClr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0066FF">
              <a:alpha val="30000"/>
            </a:srgbClr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097280"/>
            <a:ext cx="3200400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463040"/>
            <a:ext cx="22860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474720"/>
            <a:ext cx="27432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2011680"/>
            <a:ext cx="73152" cy="73152"/>
          </a:xfrm>
          <a:prstGeom prst="ellipse">
            <a:avLst/>
          </a:prstGeom>
          <a:solidFill>
            <a:srgbClr val="00D9FF">
              <a:alpha val="7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11680"/>
            <a:ext cx="73152" cy="73152"/>
          </a:xfrm>
          <a:prstGeom prst="ellipse">
            <a:avLst/>
          </a:prstGeom>
          <a:solidFill>
            <a:srgbClr val="00D9FF">
              <a:alpha val="7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011680"/>
            <a:ext cx="73152" cy="73152"/>
          </a:xfrm>
          <a:prstGeom prst="ellipse">
            <a:avLst/>
          </a:prstGeom>
          <a:solidFill>
            <a:srgbClr val="00D9FF">
              <a:alpha val="7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2377440"/>
            <a:ext cx="73152" cy="73152"/>
          </a:xfrm>
          <a:prstGeom prst="ellipse">
            <a:avLst/>
          </a:prstGeom>
          <a:solidFill>
            <a:srgbClr val="00D9FF">
              <a:alpha val="7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377440"/>
            <a:ext cx="73152" cy="73152"/>
          </a:xfrm>
          <a:prstGeom prst="ellipse">
            <a:avLst/>
          </a:prstGeom>
          <a:solidFill>
            <a:srgbClr val="00D9FF">
              <a:alpha val="7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377440"/>
            <a:ext cx="73152" cy="73152"/>
          </a:xfrm>
          <a:prstGeom prst="ellipse">
            <a:avLst/>
          </a:prstGeom>
          <a:solidFill>
            <a:srgbClr val="00D9FF">
              <a:alpha val="70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 Standards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57200" y="1508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Engine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MSE Compliance with AI-Powered RAG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029200" cy="0"/>
          </a:xfrm>
          <a:prstGeom prst="line">
            <a:avLst/>
          </a:prstGeom>
          <a:noFill/>
          <a:ln w="25400">
            <a:solidFill>
              <a:srgbClr val="00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Standard in Seconds, Not Weeks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2194560" cy="347472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988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•  RAG  •  BIS  •  MSE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3200400"/>
          </a:xfrm>
          <a:prstGeom prst="rect">
            <a:avLst/>
          </a:prstGeom>
          <a:solidFill>
            <a:srgbClr val="001080">
              <a:alpha val="25000"/>
            </a:srgbClr>
          </a:solidFill>
          <a:ln w="12700">
            <a:solidFill>
              <a:srgbClr val="001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Challenge: MSE Compliance Friction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0" cy="8686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8686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075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Thousands of BIS Standards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navigate manually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148840"/>
            <a:ext cx="5029200" cy="8686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148840"/>
            <a:ext cx="64008" cy="8686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5915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 Weeks Discovery Time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2344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compliance requirement cycle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3200400"/>
            <a:ext cx="5029200" cy="8686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3200400"/>
            <a:ext cx="64008" cy="8686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1071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Compliance Risk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344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standard = costly penalties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4160520"/>
            <a:ext cx="5029200" cy="65836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160520"/>
            <a:ext cx="5029200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discovery time to &lt;5 seconds with 100% precision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577840" y="1097280"/>
            <a:ext cx="3154680" cy="37490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577840" y="1097280"/>
            <a:ext cx="315468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77840" y="1417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6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1000+</a:t>
            </a:r>
            <a:endParaRPr lang="en-US" sz="7200" dirty="0"/>
          </a:p>
        </p:txBody>
      </p:sp>
      <p:sp>
        <p:nvSpPr>
          <p:cNvPr id="28" name="Text 23"/>
          <p:cNvSpPr/>
          <p:nvPr/>
        </p:nvSpPr>
        <p:spPr>
          <a:xfrm>
            <a:off x="5577840" y="2423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5943600" y="2880360"/>
            <a:ext cx="237744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77840" y="3017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</a:t>
            </a:r>
            <a:endParaRPr lang="en-US" sz="5600" dirty="0"/>
          </a:p>
        </p:txBody>
      </p:sp>
      <p:sp>
        <p:nvSpPr>
          <p:cNvPr id="31" name="Text 26"/>
          <p:cNvSpPr/>
          <p:nvPr/>
        </p:nvSpPr>
        <p:spPr>
          <a:xfrm>
            <a:off x="5577840" y="3794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Manual Search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57784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standard query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3200400"/>
          </a:xfrm>
          <a:prstGeom prst="rect">
            <a:avLst/>
          </a:prstGeom>
          <a:solidFill>
            <a:srgbClr val="001080">
              <a:alpha val="25000"/>
            </a:srgbClr>
          </a:solidFill>
          <a:ln w="12700">
            <a:solidFill>
              <a:srgbClr val="001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Multi-Stage RAG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3017520"/>
          </a:xfrm>
          <a:prstGeom prst="rect">
            <a:avLst/>
          </a:prstGeom>
          <a:solidFill>
            <a:srgbClr val="141428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50876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29260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 and meaning, not just keywords — finds the right standard even with imprecise queries.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743200" cy="3017520"/>
          </a:xfrm>
          <a:prstGeom prst="rect">
            <a:avLst/>
          </a:prstGeom>
          <a:solidFill>
            <a:srgbClr val="141428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143000"/>
            <a:ext cx="2743200" cy="64008"/>
          </a:xfrm>
          <a:prstGeom prst="rect">
            <a:avLst/>
          </a:prstGeom>
          <a:solidFill>
            <a:srgbClr val="00D9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1508760"/>
            <a:ext cx="731520" cy="73152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Query Expansion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83280" y="29260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complex requests into sub-queries, expanding technical vocabulary for better coverage.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143000"/>
            <a:ext cx="2743200" cy="3017520"/>
          </a:xfrm>
          <a:prstGeom prst="rect">
            <a:avLst/>
          </a:prstGeom>
          <a:solidFill>
            <a:srgbClr val="141428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1143000"/>
            <a:ext cx="274320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0" y="150876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Reranking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63640" y="29260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CPU-quantized transformer model re-ranks all candidates by true semantic relevance for precision.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108960" y="265176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89320" y="265176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solidFill>
            <a:srgbClr val="001A4D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accurate recommendations with clear rationales — powered by Google Gemini + ChromaDB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3200400"/>
          </a:xfrm>
          <a:prstGeom prst="rect">
            <a:avLst/>
          </a:prstGeom>
          <a:solidFill>
            <a:srgbClr val="001080">
              <a:alpha val="25000"/>
            </a:srgbClr>
          </a:solidFill>
          <a:ln w="12700">
            <a:solidFill>
              <a:srgbClr val="001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Architecture: 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71600"/>
            <a:ext cx="1298448" cy="137160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298448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84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24140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36776" y="205740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09928" y="2002536"/>
            <a:ext cx="82296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1371600"/>
            <a:ext cx="1298448" cy="137160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73936" y="1371600"/>
            <a:ext cx="1298448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5544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73936" y="2084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Expansion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773936" y="24140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expands intent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090672" y="205740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63824" y="2002536"/>
            <a:ext cx="82296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27832" y="1371600"/>
            <a:ext cx="1298448" cy="137160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27832" y="1371600"/>
            <a:ext cx="1298448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5544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227832" y="2084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27832" y="24140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semantic + BM25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44568" y="205740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17720" y="2002536"/>
            <a:ext cx="82296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81728" y="1371600"/>
            <a:ext cx="1298448" cy="137160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81728" y="1371600"/>
            <a:ext cx="1298448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55448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681728" y="2084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Reranker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681728" y="24140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CPU-quantized transformer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998464" y="205740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071616" y="2002536"/>
            <a:ext cx="82296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135624" y="1371600"/>
            <a:ext cx="1298448" cy="137160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135624" y="1371600"/>
            <a:ext cx="1298448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55448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135624" y="2084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Rationale Engine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135624" y="24140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explanation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7452360" y="2057400"/>
            <a:ext cx="13716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525512" y="2002536"/>
            <a:ext cx="82296" cy="10972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589520" y="1371600"/>
            <a:ext cx="1298448" cy="1371600"/>
          </a:xfrm>
          <a:prstGeom prst="rect">
            <a:avLst/>
          </a:prstGeom>
          <a:solidFill>
            <a:srgbClr val="0066FF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589520" y="1371600"/>
            <a:ext cx="129844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0144" y="1554480"/>
            <a:ext cx="457200" cy="4572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589520" y="208483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Result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7589520" y="241401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+ confidence score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320040" y="3017520"/>
            <a:ext cx="5303520" cy="685800"/>
          </a:xfrm>
          <a:prstGeom prst="rect">
            <a:avLst/>
          </a:prstGeom>
          <a:solidFill>
            <a:srgbClr val="001A3A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20040" y="3017520"/>
            <a:ext cx="530352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speed using CPU-Quantized Transformer models — sub-second vector latency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5806440" y="3017520"/>
            <a:ext cx="2926080" cy="6858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806440" y="3017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~4.1s End-to-End Latency</a:t>
            </a:r>
            <a:endParaRPr lang="en-US" sz="1400" dirty="0"/>
          </a:p>
        </p:txBody>
      </p:sp>
      <p:sp>
        <p:nvSpPr>
          <p:cNvPr id="49" name="Text 41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      Step 2           Step 3              Step 4             Step 5             Step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3200400"/>
          </a:xfrm>
          <a:prstGeom prst="rect">
            <a:avLst/>
          </a:prstGeom>
          <a:solidFill>
            <a:srgbClr val="001080">
              <a:alpha val="25000"/>
            </a:srgbClr>
          </a:solidFill>
          <a:ln w="12700">
            <a:solidFill>
              <a:srgbClr val="001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Innovation: Solving the Part I vs Part II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standards have multiple parts (e.g. IS 1234:2001 Part I, Part II). Retrieving the wrong part is as costly as retrieving no standard at 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4754880" cy="14630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04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descriptors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"calcined clay", "compressive strength")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substring boosting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rank specific parts higher than root docs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part-level precision at retrieval stage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4754880" cy="594360"/>
          </a:xfrm>
          <a:prstGeom prst="rect">
            <a:avLst/>
          </a:prstGeom>
          <a:solidFill>
            <a:srgbClr val="001A3A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Hit Rate on Complex Multi-Part Test Cases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078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BOOSTING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463040"/>
            <a:ext cx="3383280" cy="411480"/>
          </a:xfrm>
          <a:prstGeom prst="rect">
            <a:avLst/>
          </a:prstGeom>
          <a:solidFill>
            <a:srgbClr val="2A1A1A"/>
          </a:solidFill>
          <a:ln w="12700">
            <a:solidFill>
              <a:srgbClr val="55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490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IS 1234:2001 (Root)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4904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standard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1938528"/>
            <a:ext cx="3383280" cy="411480"/>
          </a:xfrm>
          <a:prstGeom prst="rect">
            <a:avLst/>
          </a:prstGeom>
          <a:solidFill>
            <a:srgbClr val="2A1A1A"/>
          </a:solidFill>
          <a:ln w="12700">
            <a:solidFill>
              <a:srgbClr val="55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965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IS 1234:2001 Part 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965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2414016"/>
            <a:ext cx="3383280" cy="411480"/>
          </a:xfrm>
          <a:prstGeom prst="rect">
            <a:avLst/>
          </a:prstGeom>
          <a:solidFill>
            <a:srgbClr val="2A1A1A"/>
          </a:solidFill>
          <a:ln w="12700">
            <a:solidFill>
              <a:srgbClr val="55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441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IS 1234:2001 Part II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24414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2980944"/>
            <a:ext cx="0" cy="22860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944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substring boosting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3255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49240" y="3639312"/>
            <a:ext cx="3383280" cy="411480"/>
          </a:xfrm>
          <a:prstGeom prst="rect">
            <a:avLst/>
          </a:prstGeom>
          <a:solidFill>
            <a:srgbClr val="001A12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6667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IS 1234:2001 Part II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666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4114800"/>
            <a:ext cx="3383280" cy="411480"/>
          </a:xfrm>
          <a:prstGeom prst="rect">
            <a:avLst/>
          </a:prstGeom>
          <a:solidFill>
            <a:srgbClr val="141428"/>
          </a:solidFill>
          <a:ln w="12700">
            <a:solidFill>
              <a:srgbClr val="3344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4142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IS 1234:2001 Part 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41422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4590288"/>
            <a:ext cx="3383280" cy="411480"/>
          </a:xfrm>
          <a:prstGeom prst="rect">
            <a:avLst/>
          </a:prstGeom>
          <a:solidFill>
            <a:srgbClr val="141428"/>
          </a:solidFill>
          <a:ln w="12700">
            <a:solidFill>
              <a:srgbClr val="334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4617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IS 1234:2001 (Root)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617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doc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"Thermal properties of clay bricks"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3200400"/>
          </a:xfrm>
          <a:prstGeom prst="rect">
            <a:avLst/>
          </a:prstGeom>
          <a:solidFill>
            <a:srgbClr val="001080">
              <a:alpha val="25000"/>
            </a:srgbClr>
          </a:solidFill>
          <a:ln w="12700">
            <a:solidFill>
              <a:srgbClr val="001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Benchmarks: Exceeding Every Target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82880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@3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EXCEEDED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@5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EXCEEDED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5.0s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~4.1s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EXCEEDED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PERFECT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2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584448"/>
            <a:ext cx="2743200" cy="1188720"/>
          </a:xfrm>
          <a:prstGeom prst="rect">
            <a:avLst/>
          </a:prstGeom>
          <a:solidFill>
            <a:srgbClr val="0A0A1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6210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6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65760" y="42611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Hit Rate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3584448"/>
            <a:ext cx="2743200" cy="1188720"/>
          </a:xfrm>
          <a:prstGeom prst="rect">
            <a:avLst/>
          </a:prstGeom>
          <a:solidFill>
            <a:srgbClr val="0A0A1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36210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3246120" y="42611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584448"/>
            <a:ext cx="2743200" cy="1188720"/>
          </a:xfrm>
          <a:prstGeom prst="rect">
            <a:avLst/>
          </a:prstGeom>
          <a:solidFill>
            <a:srgbClr val="0A0A1E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6210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0.0%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6126480" y="426110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3200400"/>
          </a:xfrm>
          <a:prstGeom prst="rect">
            <a:avLst/>
          </a:prstGeom>
          <a:solidFill>
            <a:srgbClr val="001080">
              <a:alpha val="25000"/>
            </a:srgbClr>
          </a:solidFill>
          <a:ln w="12700">
            <a:solidFill>
              <a:srgbClr val="001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&amp; Real-World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2926080"/>
          </a:xfrm>
          <a:prstGeom prst="rect">
            <a:avLst/>
          </a:prstGeom>
          <a:solidFill>
            <a:srgbClr val="141428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32588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33472"/>
            <a:ext cx="118872" cy="118872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indexes 10,000+ standards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118872" cy="118872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9626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vector retrieval at scale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401568"/>
            <a:ext cx="118872" cy="118872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full BIS standards database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1097280"/>
            <a:ext cx="2743200" cy="2926080"/>
          </a:xfrm>
          <a:prstGeom prst="rect">
            <a:avLst/>
          </a:prstGeom>
          <a:solidFill>
            <a:srgbClr val="141428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1960" y="1325880"/>
            <a:ext cx="731520" cy="73152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461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Deployment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429000" y="2633472"/>
            <a:ext cx="118872" cy="11887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30168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setup: python setup_env.py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29000" y="3017520"/>
            <a:ext cx="118872" cy="11887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30168" y="29626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Pre-indexed ChromaDB snapshots included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29000" y="3401568"/>
            <a:ext cx="118872" cy="118872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3016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for judges &amp; stakeholders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126480" y="1097280"/>
            <a:ext cx="2743200" cy="2926080"/>
          </a:xfrm>
          <a:prstGeom prst="rect">
            <a:avLst/>
          </a:prstGeom>
          <a:solidFill>
            <a:srgbClr val="141428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32320" y="1325880"/>
            <a:ext cx="731520" cy="73152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640080" cy="6400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1264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Impact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6309360" y="2633472"/>
            <a:ext cx="118872" cy="118872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510528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MSEs start production 30–50% faster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309360" y="3017520"/>
            <a:ext cx="118872" cy="118872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10528" y="29626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regulatory compliance risk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309360" y="3401568"/>
            <a:ext cx="118872" cy="118872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51052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Democratizes access to BIS standards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weeks of manual search to seconds of AI-powered discovery — unlocking productivity for 6M+ Indian MSEs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0066FF">
              <a:alpha val="15000"/>
            </a:srgbClr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57200"/>
            <a:ext cx="2011680" cy="2011680"/>
          </a:xfrm>
          <a:prstGeom prst="ellipse">
            <a:avLst/>
          </a:prstGeom>
          <a:solidFill>
            <a:srgbClr val="00D9FF">
              <a:alpha val="10000"/>
            </a:srgbClr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2926080"/>
            <a:ext cx="338328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02920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27632"/>
            <a:ext cx="0" cy="64008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115568"/>
            <a:ext cx="320040" cy="32004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246888" cy="2468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05840" y="1005840"/>
            <a:ext cx="429768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005840"/>
            <a:ext cx="54864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1060704"/>
            <a:ext cx="749808" cy="2743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10698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6596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Multi-lingual Support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" y="1508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Kannada &amp; regional languages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2889504"/>
            <a:ext cx="0" cy="64008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" y="2377440"/>
            <a:ext cx="320040" cy="32004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04872"/>
            <a:ext cx="246888" cy="2468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05840" y="2267712"/>
            <a:ext cx="429768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5840" y="2267712"/>
            <a:ext cx="54864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97280" y="2322576"/>
            <a:ext cx="749808" cy="2743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97280" y="23317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96596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BIS Portal Integration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143000" y="2770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 with official BIS standards database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30352" y="3639312"/>
            <a:ext cx="320040" cy="320040"/>
          </a:xfrm>
          <a:prstGeom prst="ellipse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66744"/>
            <a:ext cx="246888" cy="24688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005840" y="3529584"/>
            <a:ext cx="4297680" cy="10058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" y="3529584"/>
            <a:ext cx="54864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97280" y="3584448"/>
            <a:ext cx="749808" cy="2743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97280" y="3593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965960" y="3593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 &amp; Voice Queries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1143000" y="40325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on-the-go for field engineers &amp; MSE owners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486400" y="2560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3000" dirty="0"/>
          </a:p>
        </p:txBody>
      </p:sp>
      <p:sp>
        <p:nvSpPr>
          <p:cNvPr id="34" name="Shape 29"/>
          <p:cNvSpPr/>
          <p:nvPr/>
        </p:nvSpPr>
        <p:spPr>
          <a:xfrm>
            <a:off x="5486400" y="868680"/>
            <a:ext cx="3291840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0" y="1005840"/>
            <a:ext cx="3291840" cy="15544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486400" y="1005840"/>
            <a:ext cx="329184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577840" y="1115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 / Organization]</a:t>
            </a:r>
            <a:endParaRPr lang="en-US" sz="1500" dirty="0"/>
          </a:p>
        </p:txBody>
      </p:sp>
      <p:sp>
        <p:nvSpPr>
          <p:cNvPr id="38" name="Text 33"/>
          <p:cNvSpPr/>
          <p:nvPr/>
        </p:nvSpPr>
        <p:spPr>
          <a:xfrm>
            <a:off x="5577840" y="15361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AI/ML Engineer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5577840" y="1810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Backend Developer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5486400" y="2743200"/>
            <a:ext cx="3291840" cy="1463040"/>
          </a:xfrm>
          <a:prstGeom prst="rect">
            <a:avLst/>
          </a:prstGeom>
          <a:solidFill>
            <a:srgbClr val="080818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486400" y="2743200"/>
            <a:ext cx="3291840" cy="54864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57784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55778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Indian Standards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standards corpus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55778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Squad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infrastructure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5486400" y="4343400"/>
            <a:ext cx="3291840" cy="5029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48640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•  ChromaDB  •  Python  •  RAG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Discovery Engine</dc:title>
  <dc:subject>PptxGenJS Presentation</dc:subject>
  <dc:creator>PptxGenJS</dc:creator>
  <cp:lastModifiedBy>PptxGenJS</cp:lastModifiedBy>
  <cp:revision>1</cp:revision>
  <dcterms:created xsi:type="dcterms:W3CDTF">2026-05-02T05:23:13Z</dcterms:created>
  <dcterms:modified xsi:type="dcterms:W3CDTF">2026-05-02T05:23:13Z</dcterms:modified>
</cp:coreProperties>
</file>